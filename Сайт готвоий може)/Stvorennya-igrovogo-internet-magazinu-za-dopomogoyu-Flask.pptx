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Nunito" panose="020B0604020202020204" charset="-52"/>
      <p:regular r:id="rId21"/>
    </p:embeddedFont>
    <p:embeddedFont>
      <p:font typeface="Nunito Black" panose="020B0604020202020204" charset="-52"/>
      <p:regular r:id="rId22"/>
    </p:embeddedFont>
  </p:embeddedFontLst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1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Створення ігрового інтернет-магазину за допомогою Flask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Представив: </a:t>
            </a:r>
            <a:r>
              <a:rPr lang="en-US" sz="1750" b="1" dirty="0" err="1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Антонюк</a:t>
            </a:r>
            <a:r>
              <a:rPr lang="en-US" sz="17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1750" b="1" dirty="0" err="1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Андрій</a:t>
            </a:r>
            <a:br>
              <a:rPr lang="uk-UA" sz="17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</a:br>
            <a:r>
              <a:rPr lang="en-US" sz="1750" dirty="0" err="1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Курс</a:t>
            </a:r>
            <a:r>
              <a:rPr lang="en-US" sz="17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Розробка веб-додатків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Дата: Грудень 16 2025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91C57A9-1939-4E75-9EC1-42A6DFFBCE0A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7619"/>
            <a:ext cx="686228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Огляд проекту та основні технології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280190" y="2589490"/>
            <a:ext cx="3704511" cy="1910358"/>
          </a:xfrm>
          <a:prstGeom prst="roundRect">
            <a:avLst>
              <a:gd name="adj" fmla="val 1158"/>
            </a:avLst>
          </a:prstGeom>
          <a:solidFill>
            <a:srgbClr val="404245"/>
          </a:solidFill>
          <a:ln/>
        </p:spPr>
      </p:sp>
      <p:sp>
        <p:nvSpPr>
          <p:cNvPr id="5" name="Shape 2"/>
          <p:cNvSpPr/>
          <p:nvPr/>
        </p:nvSpPr>
        <p:spPr>
          <a:xfrm>
            <a:off x="6427589" y="273689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482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152" y="2858453"/>
            <a:ext cx="198953" cy="1989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7589" y="332648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Мета проекту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427589" y="3645218"/>
            <a:ext cx="3409712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Розробити повнофункціональний онлайн-магазин ігор, демонструючи надійні практики веб-розробки.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10132100" y="2589490"/>
            <a:ext cx="3704511" cy="1910358"/>
          </a:xfrm>
          <a:prstGeom prst="roundRect">
            <a:avLst>
              <a:gd name="adj" fmla="val 1158"/>
            </a:avLst>
          </a:prstGeom>
          <a:solidFill>
            <a:srgbClr val="404245"/>
          </a:solidFill>
          <a:ln/>
        </p:spPr>
      </p:sp>
      <p:sp>
        <p:nvSpPr>
          <p:cNvPr id="10" name="Shape 6"/>
          <p:cNvSpPr/>
          <p:nvPr/>
        </p:nvSpPr>
        <p:spPr>
          <a:xfrm>
            <a:off x="10279499" y="273689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482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062" y="2858453"/>
            <a:ext cx="198953" cy="1989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9499" y="332648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Ключові технології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10279499" y="3645218"/>
            <a:ext cx="3409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Python Flask, SQLite, HTML/CSS/JS, Docker, Jinja2, Pytest.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80190" y="4647248"/>
            <a:ext cx="7556421" cy="1674614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15" name="Shape 10"/>
          <p:cNvSpPr/>
          <p:nvPr/>
        </p:nvSpPr>
        <p:spPr>
          <a:xfrm>
            <a:off x="6427589" y="4794647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482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9152" y="4916210"/>
            <a:ext cx="198953" cy="19895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7589" y="538424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Ключові функції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427589" y="5702975"/>
            <a:ext cx="726162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 API, Управління користувачами, Кошик покупок, Панель адміністратора, Промокоди, Комплексне тестування.</a:t>
            </a:r>
            <a:endParaRPr lang="en-US" sz="11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C262A24-E7D0-404A-A883-BEB151708CF9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5286"/>
            <a:ext cx="8299013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Архітектура застосунку: Трирівневий підхід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337" y="2090857"/>
            <a:ext cx="8477726" cy="4401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83658" y="3580667"/>
            <a:ext cx="1046148" cy="141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Трирівнева архітектура застосунку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3954" y="3258191"/>
            <a:ext cx="212891" cy="2128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76967" y="2999269"/>
            <a:ext cx="1832853" cy="23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Фронтенд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276967" y="3301606"/>
            <a:ext cx="1832853" cy="37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Користувацький інтерфейс HTML/CSS/JS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520384" y="4003572"/>
            <a:ext cx="1832853" cy="2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Бекенд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520384" y="4305909"/>
            <a:ext cx="1832853" cy="5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Flask роути, автентифікація, кошик, адмін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8957" y="3743604"/>
            <a:ext cx="212891" cy="21289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5709" y="5065936"/>
            <a:ext cx="212891" cy="2128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76967" y="4957660"/>
            <a:ext cx="1832853" cy="23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База даних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276967" y="5259997"/>
            <a:ext cx="1832853" cy="5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Таблиці SQLite: користувачі, продукти, замовлення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93790" y="6658570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Наш застосунок використовує чітке розділення відповідальності, забезпечуючи масштабованість та зручність обслуговування.</a:t>
            </a:r>
            <a:endParaRPr lang="en-US" sz="11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7C6D10-B626-4E6F-A268-5FB958FAA8AE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616506"/>
            <a:ext cx="12140922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Основні функції: Покращення досвіду користувачів та адміністраторів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9852" y="1368266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Для користувачів: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9852" y="1727597"/>
            <a:ext cx="300752" cy="300752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1154192" y="1773555"/>
            <a:ext cx="242470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Перегляд та фільтрація ігор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9852" y="2295644"/>
            <a:ext cx="300752" cy="300752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1154192" y="2341602"/>
            <a:ext cx="268116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Реєстрація та вхід користувача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9852" y="2863691"/>
            <a:ext cx="300752" cy="300752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9" name="Text 7"/>
          <p:cNvSpPr/>
          <p:nvPr/>
        </p:nvSpPr>
        <p:spPr>
          <a:xfrm>
            <a:off x="1154192" y="2909649"/>
            <a:ext cx="376880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Кошик покупок та оформлення замовлення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9852" y="3431738"/>
            <a:ext cx="300752" cy="300752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1154192" y="3477697"/>
            <a:ext cx="274010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Керування особистим профілем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9852" y="3999786"/>
            <a:ext cx="300752" cy="300752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1154192" y="4045744"/>
            <a:ext cx="174748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E684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Система промокодів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192" y="4388287"/>
            <a:ext cx="5998012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Застосовуйте знижки та заощаджуйте на покупках.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5817" y="1368266"/>
            <a:ext cx="178058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Для адміністраторів: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5942" y="1731645"/>
            <a:ext cx="200501" cy="20050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20157" y="1727597"/>
            <a:ext cx="266390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Керування продуктами (CRUD)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5942" y="2404110"/>
            <a:ext cx="200501" cy="20050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920157" y="2400062"/>
            <a:ext cx="22121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Керування замовленнями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5942" y="3076575"/>
            <a:ext cx="200501" cy="2005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20157" y="3072527"/>
            <a:ext cx="213919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E684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Керування промокодами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920157" y="3415070"/>
            <a:ext cx="5998012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Створюйте, активуйте та деактивуйте коди знижок.</a:t>
            </a:r>
            <a:endParaRPr lang="en-US" sz="10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5942" y="3900249"/>
            <a:ext cx="200501" cy="20050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20157" y="3896201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Перегляд відгуків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817" y="4451747"/>
            <a:ext cx="4180999" cy="3010853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67B90F-E11D-4A6A-AEC7-7C8BE4E1FDC3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509" y="356235"/>
            <a:ext cx="3782973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Технічна реалізація: Сучасний стек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3509" y="829985"/>
            <a:ext cx="105275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Бекенд (Flask):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3509" y="1045726"/>
            <a:ext cx="443829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Routing: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Blueprints для модульного коду.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53509" y="1209794"/>
            <a:ext cx="443829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Database: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SQLite з міграціями.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53509" y="1373862"/>
            <a:ext cx="443829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Security: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Password hashing, CSRF protection.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53509" y="1537930"/>
            <a:ext cx="443829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API: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RESTful endpoints з Swagger documentation.</a:t>
            </a:r>
            <a:endParaRPr lang="en-US" sz="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09" y="1767245"/>
            <a:ext cx="2884884" cy="19371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04924" y="829985"/>
            <a:ext cx="105275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Фронтенд: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04924" y="1045726"/>
            <a:ext cx="443698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Templating: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Jinja2 з Tailwind CSS для швидкої розробки інтерфейсу користувача.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104924" y="1209794"/>
            <a:ext cx="443698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Interactivity: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Vanilla JavaScript для динамічних елементів.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104924" y="1373862"/>
            <a:ext cx="443698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UX/UI: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Інтуїтивний та адаптивний дизайн.</a:t>
            </a:r>
            <a:endParaRPr lang="en-US" sz="6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924" y="1603177"/>
            <a:ext cx="2883932" cy="86551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55029" y="829985"/>
            <a:ext cx="105275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DevOps: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9755029" y="1045726"/>
            <a:ext cx="443698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Containerization: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Docker + Docker Compose для узгодженості середовища.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9755029" y="1209794"/>
            <a:ext cx="443698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Testing: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Pytest (38 тестів), що забезпечує якість коду.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9755029" y="1373862"/>
            <a:ext cx="4436983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6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CI/CD:</a:t>
            </a:r>
            <a:r>
              <a:rPr lang="en-US" sz="6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Архітектура, готова до розгортання.</a:t>
            </a:r>
            <a:endParaRPr lang="en-US" sz="6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5029" y="1603177"/>
            <a:ext cx="2883932" cy="1622108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EF3680C-13AA-4BC3-A6AC-79EDF4C017FA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1902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Розширена функція: Динамічна система промокодів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93790" y="2250281"/>
            <a:ext cx="7556421" cy="2504361"/>
          </a:xfrm>
          <a:prstGeom prst="roundRect">
            <a:avLst>
              <a:gd name="adj" fmla="val 1019"/>
            </a:avLst>
          </a:prstGeom>
          <a:solidFill>
            <a:srgbClr val="404245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250281"/>
            <a:ext cx="3778210" cy="1524357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963811" y="2420303"/>
            <a:ext cx="275355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Контроль адміністратора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3811" y="2788087"/>
            <a:ext cx="318289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Адміністратори можуть легко створювати, активувати та деактивувати промокоди.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2250281"/>
            <a:ext cx="3778210" cy="1524357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2250281"/>
            <a:ext cx="22860" cy="1524357"/>
          </a:xfrm>
          <a:prstGeom prst="roundRect">
            <a:avLst>
              <a:gd name="adj" fmla="val 111628"/>
            </a:avLst>
          </a:prstGeom>
          <a:solidFill>
            <a:srgbClr val="595B5E"/>
          </a:solidFill>
          <a:ln/>
        </p:spPr>
      </p:sp>
      <p:sp>
        <p:nvSpPr>
          <p:cNvPr id="10" name="Text 7"/>
          <p:cNvSpPr/>
          <p:nvPr/>
        </p:nvSpPr>
        <p:spPr>
          <a:xfrm>
            <a:off x="4997291" y="242030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Гнучкі знижки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997291" y="2788087"/>
            <a:ext cx="318289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Підтримує знижки на основі відсотків від 1% до 100%.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59354" y="2799755"/>
            <a:ext cx="425291" cy="425291"/>
          </a:xfrm>
          <a:prstGeom prst="roundRect">
            <a:avLst>
              <a:gd name="adj" fmla="val 6000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5677" y="2906078"/>
            <a:ext cx="212646" cy="21264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93790" y="3774638"/>
            <a:ext cx="7556421" cy="980003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3774638"/>
            <a:ext cx="7556421" cy="22860"/>
          </a:xfrm>
          <a:prstGeom prst="roundRect">
            <a:avLst>
              <a:gd name="adj" fmla="val 111628"/>
            </a:avLst>
          </a:prstGeom>
          <a:solidFill>
            <a:srgbClr val="595B5E"/>
          </a:solidFill>
          <a:ln/>
        </p:spPr>
      </p:sp>
      <p:sp>
        <p:nvSpPr>
          <p:cNvPr id="16" name="Text 12"/>
          <p:cNvSpPr/>
          <p:nvPr/>
        </p:nvSpPr>
        <p:spPr>
          <a:xfrm>
            <a:off x="963811" y="3944660"/>
            <a:ext cx="309383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Безпроблемне застосування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963811" y="4312444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Коди застосовуються безпосередньо в кошику, з автоматичним перерахунком ціни.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93790" y="4945975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Фрагмент технічної реалізації: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93790" y="5409486"/>
            <a:ext cx="7556421" cy="1888093"/>
          </a:xfrm>
          <a:prstGeom prst="roundRect">
            <a:avLst>
              <a:gd name="adj" fmla="val 1352"/>
            </a:avLst>
          </a:prstGeom>
          <a:solidFill>
            <a:srgbClr val="2E3033"/>
          </a:solidFill>
          <a:ln/>
        </p:spPr>
      </p:sp>
      <p:sp>
        <p:nvSpPr>
          <p:cNvPr id="20" name="Shape 16"/>
          <p:cNvSpPr/>
          <p:nvPr/>
        </p:nvSpPr>
        <p:spPr>
          <a:xfrm>
            <a:off x="785336" y="5409486"/>
            <a:ext cx="7573327" cy="1888093"/>
          </a:xfrm>
          <a:prstGeom prst="roundRect">
            <a:avLst>
              <a:gd name="adj" fmla="val 1352"/>
            </a:avLst>
          </a:prstGeom>
          <a:solidFill>
            <a:srgbClr val="2E3033"/>
          </a:solidFill>
          <a:ln/>
        </p:spPr>
      </p:sp>
      <p:sp>
        <p:nvSpPr>
          <p:cNvPr id="21" name="Text 17"/>
          <p:cNvSpPr/>
          <p:nvPr/>
        </p:nvSpPr>
        <p:spPr>
          <a:xfrm>
            <a:off x="955358" y="5537002"/>
            <a:ext cx="7233285" cy="163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promo code
create_promo_code("NEWYEAR2026", 15.0)
# Apply discount to total
discounted_total, discount, error = apply_promo_discount(total, "NEWYEAR2026")
</a:t>
            </a:r>
            <a:endParaRPr lang="en-US" sz="13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48BF2C-1928-41B4-9AAA-88B1D35465A6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656636"/>
            <a:ext cx="57673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Ретельна стратегія тестування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93790" y="2485906"/>
            <a:ext cx="204525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Стратегія тестування: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793790" y="2882146"/>
            <a:ext cx="331708" cy="331708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849094" y="2909828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72897" y="293274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Модульні тести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72897" y="3310533"/>
            <a:ext cx="31193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24 тести, що охоплюють окремі функції моделі для детальної перевірки.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3790" y="4076819"/>
            <a:ext cx="331708" cy="331708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0" name="Text 7"/>
          <p:cNvSpPr/>
          <p:nvPr/>
        </p:nvSpPr>
        <p:spPr>
          <a:xfrm>
            <a:off x="849094" y="4104501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72897" y="412742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Інтеграційні тести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72897" y="4505206"/>
            <a:ext cx="311931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тестів, що перевіряють взаємодію з кінцевими точками API та критичні потоки користувачів.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3790" y="5507236"/>
            <a:ext cx="331708" cy="331708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4" name="Text 11"/>
          <p:cNvSpPr/>
          <p:nvPr/>
        </p:nvSpPr>
        <p:spPr>
          <a:xfrm>
            <a:off x="849094" y="5534918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72897" y="5557838"/>
            <a:ext cx="206037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Комплексне покриття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72897" y="5935623"/>
            <a:ext cx="31193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Забезпечення ретельного тестування критичних сценаріїв використання.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759404" y="2485906"/>
            <a:ext cx="261044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Результати та фреймворки: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980503" y="2882146"/>
            <a:ext cx="3377327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8448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===================================== 38 passed in 6.93s =====================================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59404" y="2882146"/>
            <a:ext cx="15240" cy="707231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9404" y="3755231"/>
            <a:ext cx="3598426" cy="555665"/>
          </a:xfrm>
          <a:prstGeom prst="roundRect">
            <a:avLst>
              <a:gd name="adj" fmla="val 398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2044" y="3917871"/>
            <a:ext cx="188059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Pytest + pytest-flask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759404" y="4458295"/>
            <a:ext cx="3598426" cy="1174552"/>
          </a:xfrm>
          <a:prstGeom prst="roundRect">
            <a:avLst>
              <a:gd name="adj" fmla="val 1883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22044" y="46209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Тестові фікстури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922044" y="4998720"/>
            <a:ext cx="327314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Для ізольованих та повторюваних тестових середовищ.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9404" y="5780246"/>
            <a:ext cx="3598426" cy="555665"/>
          </a:xfrm>
          <a:prstGeom prst="roundRect">
            <a:avLst>
              <a:gd name="adj" fmla="val 398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22044" y="5942886"/>
            <a:ext cx="26291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Автоматизоване виконання</a:t>
            </a:r>
            <a:endParaRPr lang="en-US" sz="145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CE3D380-29DC-4BA2-8A1B-28D4C8BD1836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10299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42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14995"/>
            <a:ext cx="83531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Документація API за допомогою Swagger UI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793790" y="3496866"/>
            <a:ext cx="4249341" cy="1557695"/>
          </a:xfrm>
          <a:prstGeom prst="roundRect">
            <a:avLst>
              <a:gd name="adj" fmla="val 142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030" y="3512106"/>
            <a:ext cx="4218861" cy="442198"/>
          </a:xfrm>
          <a:prstGeom prst="roundRect">
            <a:avLst>
              <a:gd name="adj" fmla="val 866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956429" y="4101703"/>
            <a:ext cx="222063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Автоматична генерація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56429" y="4420433"/>
            <a:ext cx="39240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Легка документація з коментарів та визначень у коді.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190530" y="3496866"/>
            <a:ext cx="4249341" cy="1557695"/>
          </a:xfrm>
          <a:prstGeom prst="roundRect">
            <a:avLst>
              <a:gd name="adj" fmla="val 142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05770" y="3512106"/>
            <a:ext cx="4218861" cy="442198"/>
          </a:xfrm>
          <a:prstGeom prst="roundRect">
            <a:avLst>
              <a:gd name="adj" fmla="val 866"/>
            </a:avLst>
          </a:prstGeom>
          <a:solidFill>
            <a:srgbClr val="404245"/>
          </a:solidFill>
          <a:ln/>
        </p:spPr>
      </p:sp>
      <p:sp>
        <p:nvSpPr>
          <p:cNvPr id="10" name="Text 7"/>
          <p:cNvSpPr/>
          <p:nvPr/>
        </p:nvSpPr>
        <p:spPr>
          <a:xfrm>
            <a:off x="5353169" y="4101703"/>
            <a:ext cx="234779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Інтерактивне тестування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53169" y="4420433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Досліджуйте та тестуйте кінцеві точки API безпосередньо в браузері.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587270" y="3496866"/>
            <a:ext cx="4249341" cy="1557695"/>
          </a:xfrm>
          <a:prstGeom prst="roundRect">
            <a:avLst>
              <a:gd name="adj" fmla="val 142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2510" y="3512106"/>
            <a:ext cx="4218861" cy="442198"/>
          </a:xfrm>
          <a:prstGeom prst="roundRect">
            <a:avLst>
              <a:gd name="adj" fmla="val 866"/>
            </a:avLst>
          </a:prstGeom>
          <a:solidFill>
            <a:srgbClr val="404245"/>
          </a:solidFill>
          <a:ln/>
        </p:spPr>
      </p:sp>
      <p:sp>
        <p:nvSpPr>
          <p:cNvPr id="14" name="Text 11"/>
          <p:cNvSpPr/>
          <p:nvPr/>
        </p:nvSpPr>
        <p:spPr>
          <a:xfrm>
            <a:off x="9749909" y="4101703"/>
            <a:ext cx="215729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Специфікація OpenAPI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749909" y="4420433"/>
            <a:ext cx="39240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Стандартизовані та машиночитні описи API.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3790" y="5220414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Ключові кінцеві точки API: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3790" y="5622012"/>
            <a:ext cx="13042821" cy="1635443"/>
          </a:xfrm>
          <a:prstGeom prst="roundRect">
            <a:avLst>
              <a:gd name="adj" fmla="val 1352"/>
            </a:avLst>
          </a:prstGeom>
          <a:solidFill>
            <a:srgbClr val="2E3033"/>
          </a:solidFill>
          <a:ln/>
        </p:spPr>
      </p:sp>
      <p:sp>
        <p:nvSpPr>
          <p:cNvPr id="18" name="Shape 15"/>
          <p:cNvSpPr/>
          <p:nvPr/>
        </p:nvSpPr>
        <p:spPr>
          <a:xfrm>
            <a:off x="786527" y="5622012"/>
            <a:ext cx="13057346" cy="1635443"/>
          </a:xfrm>
          <a:prstGeom prst="roundRect">
            <a:avLst>
              <a:gd name="adj" fmla="val 1352"/>
            </a:avLst>
          </a:prstGeom>
          <a:solidFill>
            <a:srgbClr val="2E3033"/>
          </a:solidFill>
          <a:ln/>
        </p:spPr>
      </p:sp>
      <p:sp>
        <p:nvSpPr>
          <p:cNvPr id="19" name="Text 16"/>
          <p:cNvSpPr/>
          <p:nvPr/>
        </p:nvSpPr>
        <p:spPr>
          <a:xfrm>
            <a:off x="933926" y="5732502"/>
            <a:ext cx="12762548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/api/v1/products # Retrieve all products
POST /api/v1/products # Create a new product
GET /api/v1/orders # Retrieve user orders
POST /api/v1/orders # Create a new order
GET /health # Health check endpoint
</a:t>
            </a:r>
            <a:endParaRPr lang="en-US" sz="11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3C35D5-6F3F-47BE-8CAE-4D1D20203C8D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8537"/>
            <a:ext cx="1076717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Розгортання: Від Локального до Продакшн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62958"/>
            <a:ext cx="311634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Локальне налаштування: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93790" y="2280999"/>
            <a:ext cx="6286262" cy="1830943"/>
          </a:xfrm>
          <a:prstGeom prst="roundRect">
            <a:avLst>
              <a:gd name="adj" fmla="val 1580"/>
            </a:avLst>
          </a:prstGeom>
          <a:solidFill>
            <a:srgbClr val="2E3033"/>
          </a:solidFill>
          <a:ln/>
        </p:spPr>
      </p:sp>
      <p:sp>
        <p:nvSpPr>
          <p:cNvPr id="5" name="Shape 3"/>
          <p:cNvSpPr/>
          <p:nvPr/>
        </p:nvSpPr>
        <p:spPr>
          <a:xfrm>
            <a:off x="784265" y="2280999"/>
            <a:ext cx="6305312" cy="1830943"/>
          </a:xfrm>
          <a:prstGeom prst="roundRect">
            <a:avLst>
              <a:gd name="adj" fmla="val 1580"/>
            </a:avLst>
          </a:prstGeom>
          <a:solidFill>
            <a:srgbClr val="2E3033"/>
          </a:solidFill>
          <a:ln/>
        </p:spPr>
      </p:sp>
      <p:sp>
        <p:nvSpPr>
          <p:cNvPr id="6" name="Text 4"/>
          <p:cNvSpPr/>
          <p:nvPr/>
        </p:nvSpPr>
        <p:spPr>
          <a:xfrm>
            <a:off x="977027" y="2425541"/>
            <a:ext cx="5919788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
.venv\Scripts\activate
pip install -r requirements.txt
python app.py
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28755"/>
            <a:ext cx="5343287" cy="3005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7968" y="1762958"/>
            <a:ext cx="390810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Docker і Продакшн Платформи: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557968" y="2280999"/>
            <a:ext cx="6286262" cy="905828"/>
          </a:xfrm>
          <a:prstGeom prst="roundRect">
            <a:avLst>
              <a:gd name="adj" fmla="val 3193"/>
            </a:avLst>
          </a:prstGeom>
          <a:solidFill>
            <a:srgbClr val="2E3033"/>
          </a:solidFill>
          <a:ln/>
        </p:spPr>
      </p:sp>
      <p:sp>
        <p:nvSpPr>
          <p:cNvPr id="10" name="Shape 7"/>
          <p:cNvSpPr/>
          <p:nvPr/>
        </p:nvSpPr>
        <p:spPr>
          <a:xfrm>
            <a:off x="7548443" y="2280999"/>
            <a:ext cx="6305312" cy="905828"/>
          </a:xfrm>
          <a:prstGeom prst="roundRect">
            <a:avLst>
              <a:gd name="adj" fmla="val 3193"/>
            </a:avLst>
          </a:prstGeom>
          <a:solidFill>
            <a:srgbClr val="2E3033"/>
          </a:solidFill>
          <a:ln/>
        </p:spPr>
      </p:sp>
      <p:sp>
        <p:nvSpPr>
          <p:cNvPr id="11" name="Text 8"/>
          <p:cNvSpPr/>
          <p:nvPr/>
        </p:nvSpPr>
        <p:spPr>
          <a:xfrm>
            <a:off x="7741206" y="2425541"/>
            <a:ext cx="591978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
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57968" y="3403640"/>
            <a:ext cx="62862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Наш проєкт розроблений для безшовного розгортання на різних платформах.</a:t>
            </a:r>
            <a:endParaRPr lang="en-US" sz="15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96CC42-F6C0-406D-9BA1-A372B2A623DB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49987"/>
            <a:ext cx="7556421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Ключові досягнення та майбутнє бачення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793790" y="1992630"/>
            <a:ext cx="7556421" cy="879753"/>
          </a:xfrm>
          <a:prstGeom prst="roundRect">
            <a:avLst>
              <a:gd name="adj" fmla="val 8315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8550" y="1992630"/>
            <a:ext cx="60960" cy="879753"/>
          </a:xfrm>
          <a:prstGeom prst="roundRect">
            <a:avLst>
              <a:gd name="adj" fmla="val 36279"/>
            </a:avLst>
          </a:prstGeom>
          <a:solidFill>
            <a:srgbClr val="84482D"/>
          </a:solidFill>
          <a:ln/>
        </p:spPr>
      </p:sp>
      <p:sp>
        <p:nvSpPr>
          <p:cNvPr id="6" name="Text 3"/>
          <p:cNvSpPr/>
          <p:nvPr/>
        </p:nvSpPr>
        <p:spPr>
          <a:xfrm>
            <a:off x="1002149" y="2155269"/>
            <a:ext cx="32362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Комплексний E-commerce магазин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02149" y="2474000"/>
            <a:ext cx="71854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Повнофункціональний ігровий магазин з можливостями для користувачів та адміністраторів.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3790" y="3019782"/>
            <a:ext cx="7556421" cy="879753"/>
          </a:xfrm>
          <a:prstGeom prst="roundRect">
            <a:avLst>
              <a:gd name="adj" fmla="val 8315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8550" y="3019782"/>
            <a:ext cx="60960" cy="879753"/>
          </a:xfrm>
          <a:prstGeom prst="roundRect">
            <a:avLst>
              <a:gd name="adj" fmla="val 36279"/>
            </a:avLst>
          </a:prstGeom>
          <a:solidFill>
            <a:srgbClr val="84482D"/>
          </a:solidFill>
          <a:ln/>
        </p:spPr>
      </p:sp>
      <p:sp>
        <p:nvSpPr>
          <p:cNvPr id="10" name="Text 7"/>
          <p:cNvSpPr/>
          <p:nvPr/>
        </p:nvSpPr>
        <p:spPr>
          <a:xfrm>
            <a:off x="1002149" y="3182422"/>
            <a:ext cx="285071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Надійний REST API зі Swagger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02149" y="3501152"/>
            <a:ext cx="71854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Добре задокументовані та тестовні кінцеві точки.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3790" y="4046934"/>
            <a:ext cx="7556421" cy="879753"/>
          </a:xfrm>
          <a:prstGeom prst="roundRect">
            <a:avLst>
              <a:gd name="adj" fmla="val 8315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8550" y="4046934"/>
            <a:ext cx="60960" cy="879753"/>
          </a:xfrm>
          <a:prstGeom prst="roundRect">
            <a:avLst>
              <a:gd name="adj" fmla="val 36279"/>
            </a:avLst>
          </a:prstGeom>
          <a:solidFill>
            <a:srgbClr val="84482D"/>
          </a:solidFill>
          <a:ln/>
        </p:spPr>
      </p:sp>
      <p:sp>
        <p:nvSpPr>
          <p:cNvPr id="14" name="Text 11"/>
          <p:cNvSpPr/>
          <p:nvPr/>
        </p:nvSpPr>
        <p:spPr>
          <a:xfrm>
            <a:off x="1002149" y="4209574"/>
            <a:ext cx="351329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Система промокодів та адмін-панель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02149" y="4528304"/>
            <a:ext cx="71854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Розширені функції для знижок та ефективного управління.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3790" y="5074087"/>
            <a:ext cx="7556421" cy="879753"/>
          </a:xfrm>
          <a:prstGeom prst="roundRect">
            <a:avLst>
              <a:gd name="adj" fmla="val 8315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8550" y="5074087"/>
            <a:ext cx="60960" cy="879753"/>
          </a:xfrm>
          <a:prstGeom prst="roundRect">
            <a:avLst>
              <a:gd name="adj" fmla="val 36279"/>
            </a:avLst>
          </a:prstGeom>
          <a:solidFill>
            <a:srgbClr val="84482D"/>
          </a:solidFill>
          <a:ln/>
        </p:spPr>
      </p:sp>
      <p:sp>
        <p:nvSpPr>
          <p:cNvPr id="18" name="Text 15"/>
          <p:cNvSpPr/>
          <p:nvPr/>
        </p:nvSpPr>
        <p:spPr>
          <a:xfrm>
            <a:off x="1002149" y="5236726"/>
            <a:ext cx="370117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DA189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Масштабне тестування та Dockerization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002149" y="5555456"/>
            <a:ext cx="71854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Забезпечення надійності та спрощеного розгортання.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93790" y="6174938"/>
            <a:ext cx="2583775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2D4BA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Майбутні покращення: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93790" y="6672382"/>
            <a:ext cx="755642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Інтеграція платіжних систем (Stripe, PayPal), сповіщення електронною поштою, розширений пошук і фільтрація, мобільна адаптивність, кешування за допомогою Redis, CI/CD конвеєри та розширений моніторинг.</a:t>
            </a:r>
            <a:endParaRPr lang="en-US" sz="11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2BDE822-759A-4D0E-9534-3D077B058656}"/>
              </a:ext>
            </a:extLst>
          </p:cNvPr>
          <p:cNvSpPr/>
          <p:nvPr/>
        </p:nvSpPr>
        <p:spPr>
          <a:xfrm>
            <a:off x="12592050" y="7667625"/>
            <a:ext cx="1952625" cy="48577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587</Words>
  <Application>Microsoft Office PowerPoint</Application>
  <PresentationFormat>Произвольный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Consolas</vt:lpstr>
      <vt:lpstr>Nunito Black</vt:lpstr>
      <vt:lpstr>Arial</vt:lpstr>
      <vt:lpstr>Nunito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54 RabmirAs</cp:lastModifiedBy>
  <cp:revision>2</cp:revision>
  <dcterms:created xsi:type="dcterms:W3CDTF">2025-12-16T12:40:05Z</dcterms:created>
  <dcterms:modified xsi:type="dcterms:W3CDTF">2025-12-16T12:43:32Z</dcterms:modified>
</cp:coreProperties>
</file>